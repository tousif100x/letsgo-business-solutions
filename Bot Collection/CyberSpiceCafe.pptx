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70F"/>
          </a:solidFill>
          <a:ln w="12700">
            <a:solidFill>
              <a:srgbClr val="0507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097280"/>
            <a:ext cx="4572000" cy="4572000"/>
          </a:xfrm>
          <a:prstGeom prst="ellipse">
            <a:avLst/>
          </a:prstGeom>
          <a:solidFill>
            <a:srgbClr val="00E5FF">
              <a:alpha val="6000"/>
            </a:srgbClr>
          </a:solidFill>
          <a:ln w="12700">
            <a:solidFill>
              <a:srgbClr val="00E5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2286000"/>
            <a:ext cx="3657600" cy="3657600"/>
          </a:xfrm>
          <a:prstGeom prst="ellipse">
            <a:avLst/>
          </a:prstGeom>
          <a:solidFill>
            <a:srgbClr val="FF6D00">
              <a:alpha val="5000"/>
            </a:srgbClr>
          </a:solidFill>
          <a:ln w="12700">
            <a:solidFill>
              <a:srgbClr val="FF6D00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85800"/>
            <a:ext cx="914400" cy="914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141732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Cyber Spice Cafe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7223760" y="14173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800" dirty="0">
                <a:solidFill>
                  <a:srgbClr val="FFFFFF"/>
                </a:solidFill>
              </a:rPr>
              <a:t>🍕 🤖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365760" y="2487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Virtual Restaurant Assistant &amp; Smart Ordering System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365760" y="3246120"/>
            <a:ext cx="4754880" cy="566928"/>
          </a:xfrm>
          <a:prstGeom prst="rect">
            <a:avLst/>
          </a:prstGeom>
          <a:solidFill>
            <a:srgbClr val="1C2A44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324612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Food Meets the Future"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AI PROJECT  •  REACT + NODE.JS + MONGODB + OPENAI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731520"/>
            <a:ext cx="2286000" cy="2286000"/>
          </a:xfrm>
          <a:prstGeom prst="ellipse">
            <a:avLst/>
          </a:prstGeom>
          <a:solidFill>
            <a:srgbClr val="00E5FF">
              <a:alpha val="8000"/>
            </a:srgbClr>
          </a:solidFill>
          <a:ln w="6350">
            <a:solidFill>
              <a:srgbClr val="00E5FF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1828800" cy="1828800"/>
          </a:xfrm>
          <a:prstGeom prst="ellipse">
            <a:avLst/>
          </a:prstGeom>
          <a:solidFill>
            <a:srgbClr val="FF6D00">
              <a:alpha val="6000"/>
            </a:srgbClr>
          </a:solidFill>
          <a:ln w="6350">
            <a:solidFill>
              <a:srgbClr val="FF6D00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786384"/>
            <a:ext cx="1097280" cy="3657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8412480" cy="1325880"/>
          </a:xfrm>
          <a:prstGeom prst="rect">
            <a:avLst/>
          </a:prstGeom>
          <a:solidFill>
            <a:srgbClr val="1C2A44"/>
          </a:solidFill>
          <a:ln w="635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69264"/>
            <a:ext cx="8138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Cyber Spice Cafe is a full-stack web application for a fictional tech-themed cafe. It features a conversational AI chatbot named "Sparky" that acts as a virtual restaurant assistant — handling orders, answering FAQs, managing complaints, and saving confirmed orders to a database — all through a natural chat interface.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65760" y="2423160"/>
            <a:ext cx="2697480" cy="2377440"/>
          </a:xfrm>
          <a:prstGeom prst="rect">
            <a:avLst/>
          </a:prstGeom>
          <a:solidFill>
            <a:srgbClr val="162033"/>
          </a:solidFill>
          <a:ln w="10160">
            <a:solidFill>
              <a:srgbClr val="00E5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78608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31272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2920" y="3493008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"Sparky" — a fully in-character virtual assistant powered by GPT-4o-mini with custom prompt engineering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00400" y="2423160"/>
            <a:ext cx="2697480" cy="2377440"/>
          </a:xfrm>
          <a:prstGeom prst="rect">
            <a:avLst/>
          </a:prstGeom>
          <a:solidFill>
            <a:srgbClr val="162033"/>
          </a:solidFill>
          <a:ln w="10160">
            <a:solidFill>
              <a:srgbClr val="FF6D0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2578608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37560" y="31272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Orders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337560" y="3493008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Itemized summaries, fulfillment type capture (Delivery / Pickup / Dine-In), and auto-save to MongoDB Atlas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035040" y="2423160"/>
            <a:ext cx="2697480" cy="2377440"/>
          </a:xfrm>
          <a:prstGeom prst="rect">
            <a:avLst/>
          </a:prstGeom>
          <a:solidFill>
            <a:srgbClr val="162033"/>
          </a:solidFill>
          <a:ln w="10160">
            <a:solidFill>
              <a:srgbClr val="00E5F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578608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72200" y="31272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172200" y="3493008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frontend, Node.js + Express backend, deployed live on Vercel with production-ready architecture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731520"/>
            <a:ext cx="2286000" cy="2286000"/>
          </a:xfrm>
          <a:prstGeom prst="ellipse">
            <a:avLst/>
          </a:prstGeom>
          <a:solidFill>
            <a:srgbClr val="00E5FF">
              <a:alpha val="8000"/>
            </a:srgbClr>
          </a:solidFill>
          <a:ln w="6350">
            <a:solidFill>
              <a:srgbClr val="00E5FF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1828800" cy="1828800"/>
          </a:xfrm>
          <a:prstGeom prst="ellipse">
            <a:avLst/>
          </a:prstGeom>
          <a:solidFill>
            <a:srgbClr val="FF6D00">
              <a:alpha val="6000"/>
            </a:srgbClr>
          </a:solidFill>
          <a:ln w="6350">
            <a:solidFill>
              <a:srgbClr val="FF6D00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786384"/>
            <a:ext cx="1097280" cy="3657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4114800" cy="868680"/>
          </a:xfrm>
          <a:prstGeom prst="rect">
            <a:avLst/>
          </a:prstGeom>
          <a:solidFill>
            <a:srgbClr val="162033"/>
          </a:solidFill>
          <a:ln w="635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692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Chatbot (Sparky)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31673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In-character virtual assistant — takes orders, answers menu questions, handles complaints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114800" cy="868680"/>
          </a:xfrm>
          <a:prstGeom prst="rect">
            <a:avLst/>
          </a:prstGeom>
          <a:solidFill>
            <a:srgbClr val="162033"/>
          </a:solidFill>
          <a:ln w="6350">
            <a:solidFill>
              <a:srgbClr val="FF6D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9692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Smart Order Mgmt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131673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Itemized summaries before confirming; captures fulfillment type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920240"/>
            <a:ext cx="4114800" cy="868680"/>
          </a:xfrm>
          <a:prstGeom prst="rect">
            <a:avLst/>
          </a:prstGeom>
          <a:solidFill>
            <a:srgbClr val="162033"/>
          </a:solidFill>
          <a:ln w="6350">
            <a:solidFill>
              <a:srgbClr val="00E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9751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Auto Order Saving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32257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orders auto-parsed and saved to MongoDB with unique order ID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920240"/>
            <a:ext cx="4114800" cy="868680"/>
          </a:xfrm>
          <a:prstGeom prst="rect">
            <a:avLst/>
          </a:prstGeom>
          <a:solidFill>
            <a:srgbClr val="162033"/>
          </a:solidFill>
          <a:ln w="6350">
            <a:solidFill>
              <a:srgbClr val="FF6D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9751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🧾  Order Tracking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232257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orders panel for viewing all confirmed orders with status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926080"/>
            <a:ext cx="4114800" cy="868680"/>
          </a:xfrm>
          <a:prstGeom prst="rect">
            <a:avLst/>
          </a:prstGeom>
          <a:solidFill>
            <a:srgbClr val="162033"/>
          </a:solidFill>
          <a:ln w="6350">
            <a:solidFill>
              <a:srgbClr val="00E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9809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Menu Boundary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332841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only accepts official menu items — rejects off-menu requests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926080"/>
            <a:ext cx="4114800" cy="868680"/>
          </a:xfrm>
          <a:prstGeom prst="rect">
            <a:avLst/>
          </a:prstGeom>
          <a:solidFill>
            <a:srgbClr val="162033"/>
          </a:solidFill>
          <a:ln w="6350">
            <a:solidFill>
              <a:srgbClr val="FF6D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9809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Fulfillment Flow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332841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delivery address, pickup time, and contact number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931920"/>
            <a:ext cx="4114800" cy="868680"/>
          </a:xfrm>
          <a:prstGeom prst="rect">
            <a:avLst/>
          </a:prstGeom>
          <a:solidFill>
            <a:srgbClr val="162033"/>
          </a:solidFill>
          <a:ln w="6350">
            <a:solidFill>
              <a:srgbClr val="00E5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98678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 FAQ Handling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433425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info on hours, delivery radius, pricing, allergens, policies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3931920"/>
            <a:ext cx="4114800" cy="868680"/>
          </a:xfrm>
          <a:prstGeom prst="rect">
            <a:avLst/>
          </a:prstGeom>
          <a:solidFill>
            <a:srgbClr val="162033"/>
          </a:solidFill>
          <a:ln w="6350">
            <a:solidFill>
              <a:srgbClr val="FF6D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98678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Complaint Protocol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433425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Acknowledges complaints, empathizes, resolves or escalates as needed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766560" y="137160"/>
            <a:ext cx="2011680" cy="384048"/>
          </a:xfrm>
          <a:prstGeom prst="rect">
            <a:avLst/>
          </a:prstGeom>
          <a:solidFill>
            <a:srgbClr val="FF6D00">
              <a:alpha val="80000"/>
            </a:srgbClr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0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🌐  DEPLOYED &amp; LIVE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731520"/>
            <a:ext cx="2286000" cy="2286000"/>
          </a:xfrm>
          <a:prstGeom prst="ellipse">
            <a:avLst/>
          </a:prstGeom>
          <a:solidFill>
            <a:srgbClr val="00E5FF">
              <a:alpha val="8000"/>
            </a:srgbClr>
          </a:solidFill>
          <a:ln w="6350">
            <a:solidFill>
              <a:srgbClr val="00E5FF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1828800" cy="1828800"/>
          </a:xfrm>
          <a:prstGeom prst="ellipse">
            <a:avLst/>
          </a:prstGeom>
          <a:solidFill>
            <a:srgbClr val="FF6D00">
              <a:alpha val="6000"/>
            </a:srgbClr>
          </a:solidFill>
          <a:ln w="6350">
            <a:solidFill>
              <a:srgbClr val="FF6D00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786384"/>
            <a:ext cx="1097280" cy="3657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4114800" cy="1783080"/>
          </a:xfrm>
          <a:prstGeom prst="rect">
            <a:avLst/>
          </a:prstGeom>
          <a:solidFill>
            <a:srgbClr val="162033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60120"/>
            <a:ext cx="4114800" cy="402336"/>
          </a:xfrm>
          <a:prstGeom prst="rect">
            <a:avLst/>
          </a:prstGeom>
          <a:solidFill>
            <a:srgbClr val="00E5FF">
              <a:alpha val="25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784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417320"/>
            <a:ext cx="38404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(Vite) — fast component-based UI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— dark-themed responsive UI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(ES6+)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114800" cy="1783080"/>
          </a:xfrm>
          <a:prstGeom prst="rect">
            <a:avLst/>
          </a:prstGeom>
          <a:solidFill>
            <a:srgbClr val="162033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960120"/>
            <a:ext cx="4114800" cy="402336"/>
          </a:xfrm>
          <a:prstGeom prst="rect">
            <a:avLst/>
          </a:prstGeom>
          <a:solidFill>
            <a:srgbClr val="FF6D00">
              <a:alpha val="25000"/>
            </a:srgbClr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9784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417320"/>
            <a:ext cx="38404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 — RESTful API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SDK — GPT-4o-mini / OpenRouter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+ MongoDB Atlas — order storage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4114800" cy="1783080"/>
          </a:xfrm>
          <a:prstGeom prst="rect">
            <a:avLst/>
          </a:prstGeom>
          <a:solidFill>
            <a:srgbClr val="162033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926080"/>
            <a:ext cx="4114800" cy="402336"/>
          </a:xfrm>
          <a:prstGeom prst="rect">
            <a:avLst/>
          </a:prstGeom>
          <a:solidFill>
            <a:srgbClr val="00E5FF">
              <a:alpha val="25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9443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3383280"/>
            <a:ext cx="38404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GPT-4o-mini (primary)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free-tier (fallback)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system prompt engineering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2926080"/>
            <a:ext cx="4114800" cy="1783080"/>
          </a:xfrm>
          <a:prstGeom prst="rect">
            <a:avLst/>
          </a:prstGeom>
          <a:solidFill>
            <a:srgbClr val="162033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926080"/>
            <a:ext cx="4114800" cy="402336"/>
          </a:xfrm>
          <a:prstGeom prst="rect">
            <a:avLst/>
          </a:prstGeom>
          <a:solidFill>
            <a:srgbClr val="FF6D00">
              <a:alpha val="25000"/>
            </a:srgbClr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9443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3383280"/>
            <a:ext cx="38404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— frontend hosting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dotenv — secure env variable mgmt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— cross-origin request handling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731520"/>
            <a:ext cx="2286000" cy="2286000"/>
          </a:xfrm>
          <a:prstGeom prst="ellipse">
            <a:avLst/>
          </a:prstGeom>
          <a:solidFill>
            <a:srgbClr val="00E5FF">
              <a:alpha val="8000"/>
            </a:srgbClr>
          </a:solidFill>
          <a:ln w="6350">
            <a:solidFill>
              <a:srgbClr val="00E5FF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1828800" cy="1828800"/>
          </a:xfrm>
          <a:prstGeom prst="ellipse">
            <a:avLst/>
          </a:prstGeom>
          <a:solidFill>
            <a:srgbClr val="FF6D00">
              <a:alpha val="6000"/>
            </a:srgbClr>
          </a:solidFill>
          <a:ln w="6350">
            <a:solidFill>
              <a:srgbClr val="FF6D00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786384"/>
            <a:ext cx="1097280" cy="3657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33272"/>
            <a:ext cx="384048" cy="384048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33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95528" y="9601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opens chat interface and sends a message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" y="1435608"/>
            <a:ext cx="0" cy="292608"/>
          </a:xfrm>
          <a:prstGeom prst="line">
            <a:avLst/>
          </a:prstGeom>
          <a:noFill/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819656"/>
            <a:ext cx="384048" cy="384048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819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95528" y="174650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POSTs full conversation history to Express /api/chat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" y="2221992"/>
            <a:ext cx="0" cy="292608"/>
          </a:xfrm>
          <a:prstGeom prst="line">
            <a:avLst/>
          </a:prstGeom>
          <a:noFill/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606040"/>
            <a:ext cx="384048" cy="384048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95528" y="253288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prepends Sparky's system prompt (menu, identity, policies)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" y="3008376"/>
            <a:ext cx="0" cy="292608"/>
          </a:xfrm>
          <a:prstGeom prst="line">
            <a:avLst/>
          </a:prstGeom>
          <a:noFill/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392424"/>
            <a:ext cx="384048" cy="384048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95528" y="331927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 generates a context-aware response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" y="3794760"/>
            <a:ext cx="0" cy="292608"/>
          </a:xfrm>
          <a:prstGeom prst="line">
            <a:avLst/>
          </a:prstGeom>
          <a:noFill/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4178808"/>
            <a:ext cx="384048" cy="384048"/>
          </a:xfrm>
          <a:prstGeom prst="ellipse">
            <a:avLst/>
          </a:prstGeom>
          <a:solidFill>
            <a:srgbClr val="00E5FF">
              <a:alpha val="8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95528" y="410565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presents order summary and requests confirmation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1033272"/>
            <a:ext cx="384048" cy="384048"/>
          </a:xfrm>
          <a:prstGeom prst="ellipse">
            <a:avLst/>
          </a:prstGeom>
          <a:solidFill>
            <a:srgbClr val="FF6D00">
              <a:alpha val="80000"/>
            </a:srgbClr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033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30368" y="9601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confirm: bot embeds FINALIZED_ORDER JSON in its response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19472" y="1435608"/>
            <a:ext cx="0" cy="292608"/>
          </a:xfrm>
          <a:prstGeom prst="line">
            <a:avLst/>
          </a:prstGeom>
          <a:noFill/>
          <a:ln w="12700">
            <a:solidFill>
              <a:srgbClr val="FF6D00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1819656"/>
            <a:ext cx="384048" cy="384048"/>
          </a:xfrm>
          <a:prstGeom prst="ellipse">
            <a:avLst/>
          </a:prstGeom>
          <a:solidFill>
            <a:srgbClr val="FF6D00">
              <a:alpha val="80000"/>
            </a:srgbClr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1819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30368" y="174650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parses JSON → saves order to MongoDB → strips JSON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19472" y="2221992"/>
            <a:ext cx="0" cy="292608"/>
          </a:xfrm>
          <a:prstGeom prst="line">
            <a:avLst/>
          </a:prstGeom>
          <a:noFill/>
          <a:ln w="12700">
            <a:solidFill>
              <a:srgbClr val="FF6D00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2606040"/>
            <a:ext cx="384048" cy="384048"/>
          </a:xfrm>
          <a:prstGeom prst="ellipse">
            <a:avLst/>
          </a:prstGeom>
          <a:solidFill>
            <a:srgbClr val="FF6D00">
              <a:alpha val="80000"/>
            </a:srgbClr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30368" y="253288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shows clean message; order saved with unique ID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919472" y="3008376"/>
            <a:ext cx="0" cy="292608"/>
          </a:xfrm>
          <a:prstGeom prst="line">
            <a:avLst/>
          </a:prstGeom>
          <a:noFill/>
          <a:ln w="12700">
            <a:solidFill>
              <a:srgbClr val="FF6D00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3392424"/>
            <a:ext cx="384048" cy="384048"/>
          </a:xfrm>
          <a:prstGeom prst="ellipse">
            <a:avLst/>
          </a:prstGeom>
          <a:solidFill>
            <a:srgbClr val="FF6D00">
              <a:alpha val="80000"/>
            </a:srgbClr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9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30368" y="331927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dashboard fetches all saved orders via GET /api/orders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17720" y="914400"/>
            <a:ext cx="0" cy="3931920"/>
          </a:xfrm>
          <a:prstGeom prst="line">
            <a:avLst/>
          </a:prstGeom>
          <a:noFill/>
          <a:ln w="12700">
            <a:solidFill>
              <a:srgbClr val="1C2A44"/>
            </a:solidFill>
            <a:prstDash val="dash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731520"/>
            <a:ext cx="2286000" cy="2286000"/>
          </a:xfrm>
          <a:prstGeom prst="ellipse">
            <a:avLst/>
          </a:prstGeom>
          <a:solidFill>
            <a:srgbClr val="00E5FF">
              <a:alpha val="8000"/>
            </a:srgbClr>
          </a:solidFill>
          <a:ln w="6350">
            <a:solidFill>
              <a:srgbClr val="00E5FF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1828800" cy="1828800"/>
          </a:xfrm>
          <a:prstGeom prst="ellipse">
            <a:avLst/>
          </a:prstGeom>
          <a:solidFill>
            <a:srgbClr val="FF6D00">
              <a:alpha val="6000"/>
            </a:srgbClr>
          </a:solidFill>
          <a:ln w="6350">
            <a:solidFill>
              <a:srgbClr val="FF6D00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786384"/>
            <a:ext cx="1097280" cy="3657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14400"/>
            <a:ext cx="8503920" cy="731520"/>
          </a:xfrm>
          <a:prstGeom prst="rect">
            <a:avLst/>
          </a:prstGeom>
          <a:solidFill>
            <a:srgbClr val="162033"/>
          </a:solidFill>
          <a:ln w="6350">
            <a:solidFill>
              <a:srgbClr val="1C2A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914400"/>
            <a:ext cx="64008" cy="731520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9509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Keeping the AI in character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5488" y="12984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Strict multi-module system prompt with identity rules, scope limits, and a "never break character" policy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1719072"/>
            <a:ext cx="8503920" cy="731520"/>
          </a:xfrm>
          <a:prstGeom prst="rect">
            <a:avLst/>
          </a:prstGeom>
          <a:solidFill>
            <a:srgbClr val="162033"/>
          </a:solidFill>
          <a:ln w="6350">
            <a:solidFill>
              <a:srgbClr val="1C2A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719072"/>
            <a:ext cx="64008" cy="731520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75564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Extracting structured order data from free-text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" y="210312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"Secret JSON block" protocol — AI embeds FINALIZED_ORDER JSON; backend parses via regex and strips it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523744"/>
            <a:ext cx="8503920" cy="731520"/>
          </a:xfrm>
          <a:prstGeom prst="rect">
            <a:avLst/>
          </a:prstGeom>
          <a:solidFill>
            <a:srgbClr val="162033"/>
          </a:solidFill>
          <a:ln w="6350">
            <a:solidFill>
              <a:srgbClr val="1C2A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523744"/>
            <a:ext cx="64008" cy="731520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56032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Null content from reasoning models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5488" y="29077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Fallback logic: if msg.content is null → try msg.reasoning_content → then empty string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328416"/>
            <a:ext cx="8503920" cy="731520"/>
          </a:xfrm>
          <a:prstGeom prst="rect">
            <a:avLst/>
          </a:prstGeom>
          <a:solidFill>
            <a:srgbClr val="162033"/>
          </a:solidFill>
          <a:ln w="6350">
            <a:solidFill>
              <a:srgbClr val="1C2A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328416"/>
            <a:ext cx="64008" cy="731520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336499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Supporting multiple AI providers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5488" y="371246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Dynamic baseURL + model selection based on API key prefix (sk-or = OpenRouter, else = OpenAI)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4133088"/>
            <a:ext cx="8503920" cy="731520"/>
          </a:xfrm>
          <a:prstGeom prst="rect">
            <a:avLst/>
          </a:prstGeom>
          <a:solidFill>
            <a:srgbClr val="162033"/>
          </a:solidFill>
          <a:ln w="6350">
            <a:solidFill>
              <a:srgbClr val="1C2A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4133088"/>
            <a:ext cx="64008" cy="731520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416966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Menu boundary without hallucination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5488" y="451713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System prompt explicitly lists all menu items + prices; instructs bot to never invent or assume items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731520"/>
            <a:ext cx="2286000" cy="2286000"/>
          </a:xfrm>
          <a:prstGeom prst="ellipse">
            <a:avLst/>
          </a:prstGeom>
          <a:solidFill>
            <a:srgbClr val="00E5FF">
              <a:alpha val="8000"/>
            </a:srgbClr>
          </a:solidFill>
          <a:ln w="6350">
            <a:solidFill>
              <a:srgbClr val="00E5FF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1828800" cy="1828800"/>
          </a:xfrm>
          <a:prstGeom prst="ellipse">
            <a:avLst/>
          </a:prstGeom>
          <a:solidFill>
            <a:srgbClr val="FF6D00">
              <a:alpha val="6000"/>
            </a:srgbClr>
          </a:solidFill>
          <a:ln w="6350">
            <a:solidFill>
              <a:srgbClr val="FF6D00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— Customer Orders Dinner for Delivery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786384"/>
            <a:ext cx="1097280" cy="3657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32688"/>
            <a:ext cx="4846320" cy="457200"/>
          </a:xfrm>
          <a:prstGeom prst="rect">
            <a:avLst/>
          </a:prstGeom>
          <a:solidFill>
            <a:srgbClr val="162033"/>
          </a:solidFill>
          <a:ln w="7620">
            <a:solidFill>
              <a:srgbClr val="1C2A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93268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 Hi, I'd like a Mainframe Burger and Firewall Fries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840480" y="1481328"/>
            <a:ext cx="4846320" cy="457200"/>
          </a:xfrm>
          <a:prstGeom prst="rect">
            <a:avLst/>
          </a:prstGeom>
          <a:solidFill>
            <a:srgbClr val="071A2E"/>
          </a:solidFill>
          <a:ln w="762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50208" y="148132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Sparky 🤖: Got it! Chicken or veg patty for the Mainframe Burger?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029968"/>
            <a:ext cx="4846320" cy="457200"/>
          </a:xfrm>
          <a:prstGeom prst="rect">
            <a:avLst/>
          </a:prstGeom>
          <a:solidFill>
            <a:srgbClr val="162033"/>
          </a:solidFill>
          <a:ln w="7620">
            <a:solidFill>
              <a:srgbClr val="1C2A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02996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 Chicken please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40480" y="2578608"/>
            <a:ext cx="4846320" cy="457200"/>
          </a:xfrm>
          <a:prstGeom prst="rect">
            <a:avLst/>
          </a:prstGeom>
          <a:solidFill>
            <a:srgbClr val="071A2E"/>
          </a:solidFill>
          <a:ln w="7620">
            <a:solidFill>
              <a:srgbClr val="00E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50208" y="257860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Sparky 🤖: Order Summary — 1x Mainframe Burger ₹250 + 1x Firewall Fries ₹120 = ₹370. Confirm?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127248"/>
            <a:ext cx="4846320" cy="457200"/>
          </a:xfrm>
          <a:prstGeom prst="rect">
            <a:avLst/>
          </a:prstGeom>
          <a:solidFill>
            <a:srgbClr val="162033"/>
          </a:solidFill>
          <a:ln w="7620">
            <a:solidFill>
              <a:srgbClr val="1C2A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12724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 Yes, looks good!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0" y="3675888"/>
            <a:ext cx="4846320" cy="457200"/>
          </a:xfrm>
          <a:prstGeom prst="rect">
            <a:avLst/>
          </a:prstGeom>
          <a:solidFill>
            <a:srgbClr val="071A2E"/>
          </a:solidFill>
          <a:ln w="7620">
            <a:solidFill>
              <a:srgbClr val="00E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50208" y="367588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Sparky 🤖: Delivery, Pickup, or Dine-In?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4224528"/>
            <a:ext cx="4846320" cy="457200"/>
          </a:xfrm>
          <a:prstGeom prst="rect">
            <a:avLst/>
          </a:prstGeom>
          <a:solidFill>
            <a:srgbClr val="162033"/>
          </a:solidFill>
          <a:ln w="7620">
            <a:solidFill>
              <a:srgbClr val="1C2A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422452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 Delivery — 42 Neon Street, contact 9876543210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solidFill>
            <a:srgbClr val="001F00">
              <a:alpha val="80000"/>
            </a:srgbClr>
          </a:solidFill>
          <a:ln w="12700">
            <a:solidFill>
              <a:srgbClr val="00CC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617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Order #XYZ saved instantly to MongoDB — zero human staff involvement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731520"/>
            <a:ext cx="2286000" cy="2286000"/>
          </a:xfrm>
          <a:prstGeom prst="ellipse">
            <a:avLst/>
          </a:prstGeom>
          <a:solidFill>
            <a:srgbClr val="00E5FF">
              <a:alpha val="8000"/>
            </a:srgbClr>
          </a:solidFill>
          <a:ln w="6350">
            <a:solidFill>
              <a:srgbClr val="00E5FF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1828800" cy="1828800"/>
          </a:xfrm>
          <a:prstGeom prst="ellipse">
            <a:avLst/>
          </a:prstGeom>
          <a:solidFill>
            <a:srgbClr val="FF6D00">
              <a:alpha val="6000"/>
            </a:srgbClr>
          </a:solidFill>
          <a:ln w="6350">
            <a:solidFill>
              <a:srgbClr val="FF6D00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Highlights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786384"/>
            <a:ext cx="1097280" cy="3657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2724912" cy="1737360"/>
          </a:xfrm>
          <a:prstGeom prst="rect">
            <a:avLst/>
          </a:prstGeom>
          <a:solidFill>
            <a:srgbClr val="162033"/>
          </a:solidFill>
          <a:ln w="10160">
            <a:solidFill>
              <a:srgbClr val="00E5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1430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12471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457200" y="17647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14884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/api/chat and /api/orders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182112" y="960120"/>
            <a:ext cx="2724912" cy="1737360"/>
          </a:xfrm>
          <a:prstGeom prst="rect">
            <a:avLst/>
          </a:prstGeom>
          <a:solidFill>
            <a:srgbClr val="162033"/>
          </a:solidFill>
          <a:ln w="10160">
            <a:solidFill>
              <a:srgbClr val="FF6D0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704" y="114300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67912" y="112471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3319272" y="17647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Persona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319272" y="214884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Sparky — built via prompt engineering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044184" y="960120"/>
            <a:ext cx="2724912" cy="1737360"/>
          </a:xfrm>
          <a:prstGeom prst="rect">
            <a:avLst/>
          </a:prstGeom>
          <a:solidFill>
            <a:srgbClr val="162033"/>
          </a:solidFill>
          <a:ln w="10160">
            <a:solidFill>
              <a:srgbClr val="00E5F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776" y="114300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29984" y="112471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000" dirty="0"/>
          </a:p>
        </p:txBody>
      </p:sp>
      <p:sp>
        <p:nvSpPr>
          <p:cNvPr id="19" name="Text 14"/>
          <p:cNvSpPr/>
          <p:nvPr/>
        </p:nvSpPr>
        <p:spPr>
          <a:xfrm>
            <a:off x="6181344" y="17647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Items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181344" y="214884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Starters, Mains &amp; Drinks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320040" y="2880360"/>
            <a:ext cx="2724912" cy="1737360"/>
          </a:xfrm>
          <a:prstGeom prst="rect">
            <a:avLst/>
          </a:prstGeom>
          <a:solidFill>
            <a:srgbClr val="162033"/>
          </a:solidFill>
          <a:ln w="10160">
            <a:solidFill>
              <a:srgbClr val="FF6D0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306324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05840" y="304495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3000" dirty="0"/>
          </a:p>
        </p:txBody>
      </p:sp>
      <p:sp>
        <p:nvSpPr>
          <p:cNvPr id="24" name="Text 18"/>
          <p:cNvSpPr/>
          <p:nvPr/>
        </p:nvSpPr>
        <p:spPr>
          <a:xfrm>
            <a:off x="457200" y="36850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57200" y="406908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finalization via JSON parsing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3182112" y="2880360"/>
            <a:ext cx="2724912" cy="1737360"/>
          </a:xfrm>
          <a:prstGeom prst="rect">
            <a:avLst/>
          </a:prstGeom>
          <a:solidFill>
            <a:srgbClr val="162033"/>
          </a:solidFill>
          <a:ln w="10160">
            <a:solidFill>
              <a:srgbClr val="00E5FF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6704" y="3063240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867912" y="304495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</a:t>
            </a:r>
            <a:endParaRPr lang="en-US" sz="3000" dirty="0"/>
          </a:p>
        </p:txBody>
      </p:sp>
      <p:sp>
        <p:nvSpPr>
          <p:cNvPr id="29" name="Text 22"/>
          <p:cNvSpPr/>
          <p:nvPr/>
        </p:nvSpPr>
        <p:spPr>
          <a:xfrm>
            <a:off x="3319272" y="36850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3319272" y="406908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on Vercel, production-ready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6044184" y="2880360"/>
            <a:ext cx="2724912" cy="1737360"/>
          </a:xfrm>
          <a:prstGeom prst="rect">
            <a:avLst/>
          </a:prstGeom>
          <a:solidFill>
            <a:srgbClr val="162033"/>
          </a:solidFill>
          <a:ln w="10160">
            <a:solidFill>
              <a:srgbClr val="FF6D00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8776" y="3063240"/>
            <a:ext cx="457200" cy="4572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729984" y="304495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3000" dirty="0"/>
          </a:p>
        </p:txBody>
      </p:sp>
      <p:sp>
        <p:nvSpPr>
          <p:cNvPr id="34" name="Text 26"/>
          <p:cNvSpPr/>
          <p:nvPr/>
        </p:nvSpPr>
        <p:spPr>
          <a:xfrm>
            <a:off x="6181344" y="36850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6181344" y="406908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JSON stripped server-side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731520"/>
            <a:ext cx="2286000" cy="2286000"/>
          </a:xfrm>
          <a:prstGeom prst="ellipse">
            <a:avLst/>
          </a:prstGeom>
          <a:solidFill>
            <a:srgbClr val="00E5FF">
              <a:alpha val="8000"/>
            </a:srgbClr>
          </a:solidFill>
          <a:ln w="6350">
            <a:solidFill>
              <a:srgbClr val="00E5FF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1828800" cy="1828800"/>
          </a:xfrm>
          <a:prstGeom prst="ellipse">
            <a:avLst/>
          </a:prstGeom>
          <a:solidFill>
            <a:srgbClr val="FF6D00">
              <a:alpha val="6000"/>
            </a:srgbClr>
          </a:solidFill>
          <a:ln w="6350">
            <a:solidFill>
              <a:srgbClr val="FF6D00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786384"/>
            <a:ext cx="1097280" cy="3657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14400"/>
            <a:ext cx="4206240" cy="1188720"/>
          </a:xfrm>
          <a:prstGeom prst="rect">
            <a:avLst/>
          </a:prstGeom>
          <a:solidFill>
            <a:srgbClr val="162033"/>
          </a:solidFill>
          <a:ln w="889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0058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33272" y="102412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33272" y="144475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order management for restaurant staff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4206240" cy="1188720"/>
          </a:xfrm>
          <a:prstGeom prst="rect">
            <a:avLst/>
          </a:prstGeom>
          <a:solidFill>
            <a:srgbClr val="162033"/>
          </a:solidFill>
          <a:ln w="8890">
            <a:solidFill>
              <a:srgbClr val="FF6D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0058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68112" y="102412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/ SMS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68112" y="144475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notification integration via Twilio or similar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240280"/>
            <a:ext cx="4206240" cy="1188720"/>
          </a:xfrm>
          <a:prstGeom prst="rect">
            <a:avLst/>
          </a:prstGeom>
          <a:solidFill>
            <a:srgbClr val="162033"/>
          </a:solidFill>
          <a:ln w="8890">
            <a:solidFill>
              <a:srgbClr val="00E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23317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33272" y="235000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33272" y="277063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/ Stripe integration for in-app payments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2240280"/>
            <a:ext cx="4206240" cy="1188720"/>
          </a:xfrm>
          <a:prstGeom prst="rect">
            <a:avLst/>
          </a:prstGeom>
          <a:solidFill>
            <a:srgbClr val="162033"/>
          </a:solidFill>
          <a:ln w="8890">
            <a:solidFill>
              <a:srgbClr val="FF6D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23317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🌟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468112" y="235000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&amp; Feedback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68112" y="277063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rating system for orders and experience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3566160"/>
            <a:ext cx="4206240" cy="1188720"/>
          </a:xfrm>
          <a:prstGeom prst="rect">
            <a:avLst/>
          </a:prstGeom>
          <a:solidFill>
            <a:srgbClr val="162033"/>
          </a:solidFill>
          <a:ln w="8890">
            <a:solidFill>
              <a:srgbClr val="00E5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" y="36576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🧑‍🍳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33272" y="367588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Display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33272" y="409651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KDS integration to send orders directly to the kitchen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3566160"/>
            <a:ext cx="4206240" cy="1188720"/>
          </a:xfrm>
          <a:prstGeom prst="rect">
            <a:avLst/>
          </a:prstGeom>
          <a:solidFill>
            <a:srgbClr val="162033"/>
          </a:solidFill>
          <a:ln w="8890">
            <a:solidFill>
              <a:srgbClr val="FF6D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36576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468112" y="367588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Analytics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68112" y="409651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for sales trends, top items, and revenue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6400800" cy="6400800"/>
          </a:xfrm>
          <a:prstGeom prst="ellipse">
            <a:avLst/>
          </a:prstGeom>
          <a:solidFill>
            <a:srgbClr val="00E5FF">
              <a:alpha val="6000"/>
            </a:srgbClr>
          </a:solidFill>
          <a:ln w="12700">
            <a:solidFill>
              <a:srgbClr val="00E5FF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1828800"/>
            <a:ext cx="5486400" cy="5486400"/>
          </a:xfrm>
          <a:prstGeom prst="ellipse">
            <a:avLst/>
          </a:prstGeom>
          <a:solidFill>
            <a:srgbClr val="FF6D00">
              <a:alpha val="5000"/>
            </a:srgbClr>
          </a:solidFill>
          <a:ln w="12700">
            <a:solidFill>
              <a:srgbClr val="FF6D00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54864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8" name="Shape 5"/>
          <p:cNvSpPr/>
          <p:nvPr/>
        </p:nvSpPr>
        <p:spPr>
          <a:xfrm>
            <a:off x="457200" y="2834640"/>
            <a:ext cx="8229600" cy="1325880"/>
          </a:xfrm>
          <a:prstGeom prst="rect">
            <a:avLst/>
          </a:prstGeom>
          <a:solidFill>
            <a:srgbClr val="1C2A44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2880360"/>
            <a:ext cx="7955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Cyber Spice Cafe proves that a single AI persona, powered by smart prompt engineering and a clean full-stack architecture, can replace an entire front-of-house ordering workflow."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❤️ using React  •  Node.js  •  MongoDB  •  OpenAI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 Spice Cafe</dc:title>
  <dc:subject>PptxGenJS Presentation</dc:subject>
  <dc:creator>PptxGenJS</dc:creator>
  <cp:lastModifiedBy>PptxGenJS</cp:lastModifiedBy>
  <cp:revision>1</cp:revision>
  <dcterms:created xsi:type="dcterms:W3CDTF">2026-06-06T04:35:32Z</dcterms:created>
  <dcterms:modified xsi:type="dcterms:W3CDTF">2026-06-06T04:35:32Z</dcterms:modified>
</cp:coreProperties>
</file>